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5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4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0F7F-8208-0940-7D32-D9C604376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1A7C1-7F83-D616-7F5B-800B7F939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2B79-1111-BA45-F825-643A68FF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1406F-874B-16D3-8A7E-77AEC712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0249E-D1D8-43D9-0B08-4A9EC793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5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D7A3-6339-1862-3EF9-ABCFDA6F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FD038-BF47-0601-79B1-A68C53196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4D5A2-48D8-0FB5-EB71-311F46E5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08318-9D40-9B7B-AADE-00AF0AF7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3A065-4BF9-4CE6-7C8D-669001E8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9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783AC-55E5-3F6C-E375-00978BBE7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8D29-25FB-DA41-A434-68C237450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A1EA-B785-DD74-4040-7ED6A80C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CAEE-6934-D9FC-4308-F7CB74B88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CCFCD-8F09-C68C-ADE9-8FECC2B1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3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42C9-A54D-AE3A-D8BA-45C62DB09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BCB2-97B1-B905-B7E8-9AE902114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C93F9-175A-F690-742E-A45BE9AC9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9AF6C-D2B9-A423-0A1C-D912553E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ED33C-A6DA-BD58-8EA3-3DC6E1A3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2EF3C-7AEC-B2C8-5F49-BDE0BB52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4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C047-4D87-4093-3095-21F293F93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E88D2-A66A-A851-D300-DFDD03D84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932C2-133A-44BB-E64F-0DF4C39B0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9CAD6-69C4-CABF-B6EC-84F2FA2A8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21F395-70E0-7FF3-2C78-818D27A3B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4DDAF0-E552-608E-553C-698A3D68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EA0BB5-4976-5C53-2438-B68B01D5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C53E3-C745-6B43-2DB0-7FF45B13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9125-2E23-CA6A-3D72-82B358BA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E318E-175C-6085-8FB5-ED85C038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E3409-46C6-8F9F-DD54-F28A0F56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37D3B-737F-D654-97B6-256CF158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6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C5106-C288-ECCE-9BD0-9574949D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E3DA1-B6C8-5441-F621-EA3135164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34AB5-C632-76A0-F63C-AC9AC416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9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2BC8-53FC-E9BD-6EA6-DF9E8FEFD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6968-0F34-4DA7-646F-0B9D5CD8A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76E75-15FF-A4A2-9A01-4B92480D9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293B4-AC8E-3B60-95DC-07201FDA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7A0EB-5754-1971-F6F1-463350D2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76919-CDFA-CEF7-DED2-38EE7A86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9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0DC1-0E0E-AB9B-8A88-4489F6E4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35129-504E-5006-9DA6-43DF372AE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40234-ACFA-67D3-6D9A-682A219F6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670C0-96D1-1D06-1113-59745365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41B89-0FC2-FDE2-F896-9871B6F7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AE6C2-8B94-CDEE-8C40-AABFA77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BD80-0EBE-0AE8-D332-44BA760E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5A4B7-434B-E6E9-CEDB-C2EBA7A9B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101B5-E272-9D8C-7B6E-358E2946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6685F-B534-2535-94C1-70B5C60F4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12EA2-9032-3F4E-49E9-00504AE2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4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97F53-4D5B-5DE5-B57B-161A81122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BDF04-C3F0-E66C-56DD-447B4FC7E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D7C02-FC39-4324-6B85-6DD8D439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BE330-0DE7-519D-C949-1B43D5FD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6CA42-7444-DD32-2D1A-AA416AEB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FC4CA-B9B2-6A3D-0523-D4619E20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43C6A-F2D9-716F-0815-D1D038B05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D2BAF-5A31-5A46-7559-962842592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CA443-2CCE-499E-A8CB-A903AB2FE9E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67379-12BA-B801-1655-EE54239F0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F68D-3D4E-4B81-BA93-3871A1FFC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E22B8-665E-4FAF-AC28-0D1E8CAF1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BE68-EF20-294A-9E05-3CE5822B1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OPNSense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07BBF-0145-F3E1-B2ED-EAD8F090A8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Network Topology for Heavy Metal Cloud</a:t>
            </a:r>
          </a:p>
        </p:txBody>
      </p:sp>
    </p:spTree>
    <p:extLst>
      <p:ext uri="{BB962C8B-B14F-4D97-AF65-F5344CB8AC3E}">
        <p14:creationId xmlns:p14="http://schemas.microsoft.com/office/powerpoint/2010/main" val="60292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6EA6-06EA-8252-F7B0-130405159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3120-D7A9-EECC-C602-E0933EC2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Direct connection to the Internet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C6E86-0DD2-3DF6-9CC0-EC8F337E7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this example, the Internet Gateway is directly connected to the </a:t>
            </a:r>
            <a:r>
              <a:rPr lang="en-US" sz="2000" dirty="0" err="1"/>
              <a:t>OPNSense</a:t>
            </a:r>
            <a:r>
              <a:rPr lang="en-US" sz="2000" dirty="0"/>
              <a:t> device.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(By ‘directly connected’ I mean they use the same subnet on the WAN interface)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4B6FD-7F9A-61F3-5360-2CDBA3AE5215}"/>
              </a:ext>
            </a:extLst>
          </p:cNvPr>
          <p:cNvSpPr/>
          <p:nvPr/>
        </p:nvSpPr>
        <p:spPr>
          <a:xfrm>
            <a:off x="4834638" y="4001293"/>
            <a:ext cx="2236879" cy="1405277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47219-F254-2D23-F74C-DD2EEE6B6E7C}"/>
              </a:ext>
            </a:extLst>
          </p:cNvPr>
          <p:cNvSpPr txBox="1"/>
          <p:nvPr/>
        </p:nvSpPr>
        <p:spPr>
          <a:xfrm>
            <a:off x="5006829" y="3564494"/>
            <a:ext cx="189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OPNSense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Device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5A57AD60-A0CF-BBE9-6F87-FD3E81162172}"/>
              </a:ext>
            </a:extLst>
          </p:cNvPr>
          <p:cNvSpPr/>
          <p:nvPr/>
        </p:nvSpPr>
        <p:spPr>
          <a:xfrm>
            <a:off x="9734255" y="3208544"/>
            <a:ext cx="1892496" cy="914400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Public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Internet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DAD1B-36EE-71CC-711A-37D507080B59}"/>
              </a:ext>
            </a:extLst>
          </p:cNvPr>
          <p:cNvSpPr/>
          <p:nvPr/>
        </p:nvSpPr>
        <p:spPr>
          <a:xfrm>
            <a:off x="6372790" y="4410017"/>
            <a:ext cx="1239954" cy="58782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WAN</a:t>
            </a:r>
          </a:p>
          <a:p>
            <a:pPr algn="ctr"/>
            <a:r>
              <a:rPr lang="en-US" sz="1200" dirty="0"/>
              <a:t>192.168.1.x (DHCP)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73BFD1-1CA4-8B95-6705-9FAC7BE638E1}"/>
              </a:ext>
            </a:extLst>
          </p:cNvPr>
          <p:cNvGrpSpPr/>
          <p:nvPr/>
        </p:nvGrpSpPr>
        <p:grpSpPr>
          <a:xfrm>
            <a:off x="8490895" y="3749160"/>
            <a:ext cx="721763" cy="665370"/>
            <a:chOff x="6395215" y="4507265"/>
            <a:chExt cx="1086239" cy="10103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A44442-EA98-65E9-7A2B-CFCB554A6C3A}"/>
                </a:ext>
              </a:extLst>
            </p:cNvPr>
            <p:cNvSpPr/>
            <p:nvPr/>
          </p:nvSpPr>
          <p:spPr>
            <a:xfrm>
              <a:off x="6395215" y="4507265"/>
              <a:ext cx="1086239" cy="1010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9C8F159A-F373-D023-544D-1ADE4F34C211}"/>
                </a:ext>
              </a:extLst>
            </p:cNvPr>
            <p:cNvSpPr/>
            <p:nvPr/>
          </p:nvSpPr>
          <p:spPr>
            <a:xfrm>
              <a:off x="6474307" y="4866795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71603C90-8121-39E7-EA5F-5A47624CBCE5}"/>
                </a:ext>
              </a:extLst>
            </p:cNvPr>
            <p:cNvSpPr/>
            <p:nvPr/>
          </p:nvSpPr>
          <p:spPr>
            <a:xfrm rot="10800000">
              <a:off x="6983632" y="4870946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390C75E2-F8C0-BDE1-2EF0-B1EF69316B20}"/>
                </a:ext>
              </a:extLst>
            </p:cNvPr>
            <p:cNvSpPr/>
            <p:nvPr/>
          </p:nvSpPr>
          <p:spPr>
            <a:xfrm rot="16200000">
              <a:off x="6735905" y="461311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A7AE3AD7-3908-C78D-F5F2-23B68390FEC5}"/>
                </a:ext>
              </a:extLst>
            </p:cNvPr>
            <p:cNvSpPr/>
            <p:nvPr/>
          </p:nvSpPr>
          <p:spPr>
            <a:xfrm rot="5400000">
              <a:off x="6734164" y="513487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539D3F-9E4F-A1EB-6E8D-F59791A02585}"/>
              </a:ext>
            </a:extLst>
          </p:cNvPr>
          <p:cNvCxnSpPr>
            <a:cxnSpLocks/>
            <a:stCxn id="9" idx="3"/>
            <a:endCxn id="11" idx="3"/>
          </p:cNvCxnSpPr>
          <p:nvPr/>
        </p:nvCxnSpPr>
        <p:spPr>
          <a:xfrm flipV="1">
            <a:off x="7612744" y="4317089"/>
            <a:ext cx="983851" cy="386842"/>
          </a:xfrm>
          <a:prstGeom prst="line">
            <a:avLst/>
          </a:prstGeom>
          <a:ln w="254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AA103F-FFD9-409A-A1F8-CA2AC59634A4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9212658" y="3914773"/>
            <a:ext cx="569809" cy="167072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AAF23B0-2FCD-912D-4E04-602947DEE2CE}"/>
              </a:ext>
            </a:extLst>
          </p:cNvPr>
          <p:cNvSpPr txBox="1"/>
          <p:nvPr/>
        </p:nvSpPr>
        <p:spPr>
          <a:xfrm>
            <a:off x="7854630" y="4609139"/>
            <a:ext cx="14421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This connection could be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wifi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or wired. The Network here is (192.168.1.x)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E2A91D-54AB-BA4D-3DC6-B769CF12B9FA}"/>
              </a:ext>
            </a:extLst>
          </p:cNvPr>
          <p:cNvSpPr txBox="1"/>
          <p:nvPr/>
        </p:nvSpPr>
        <p:spPr>
          <a:xfrm>
            <a:off x="8066844" y="3184841"/>
            <a:ext cx="145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Internet Gateway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(Router to ISP)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CAE4B9-D46A-5B47-6973-23D944920F8B}"/>
              </a:ext>
            </a:extLst>
          </p:cNvPr>
          <p:cNvSpPr/>
          <p:nvPr/>
        </p:nvSpPr>
        <p:spPr>
          <a:xfrm>
            <a:off x="4349723" y="4410017"/>
            <a:ext cx="1239954" cy="58782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LAN</a:t>
            </a:r>
          </a:p>
          <a:p>
            <a:pPr algn="ctr"/>
            <a:r>
              <a:rPr lang="en-US" sz="1200" dirty="0"/>
              <a:t>172.16.1.1 (Static IP)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63866D-65B6-7881-60EB-D4152F462CCD}"/>
              </a:ext>
            </a:extLst>
          </p:cNvPr>
          <p:cNvCxnSpPr>
            <a:cxnSpLocks/>
          </p:cNvCxnSpPr>
          <p:nvPr/>
        </p:nvCxnSpPr>
        <p:spPr>
          <a:xfrm>
            <a:off x="3813092" y="4698607"/>
            <a:ext cx="546836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032C803-10BE-8C4F-2F60-B608B67A723F}"/>
              </a:ext>
            </a:extLst>
          </p:cNvPr>
          <p:cNvSpPr/>
          <p:nvPr/>
        </p:nvSpPr>
        <p:spPr>
          <a:xfrm>
            <a:off x="3217575" y="3505428"/>
            <a:ext cx="586325" cy="23863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D5362C2-5F9E-CCFB-9CA6-5CA2AFCC6A5C}"/>
              </a:ext>
            </a:extLst>
          </p:cNvPr>
          <p:cNvGrpSpPr/>
          <p:nvPr/>
        </p:nvGrpSpPr>
        <p:grpSpPr>
          <a:xfrm>
            <a:off x="3286808" y="4464910"/>
            <a:ext cx="447857" cy="467394"/>
            <a:chOff x="7559857" y="4654886"/>
            <a:chExt cx="914400" cy="98739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A61CA75-5613-D074-4224-8B24994FE7AB}"/>
                </a:ext>
              </a:extLst>
            </p:cNvPr>
            <p:cNvSpPr/>
            <p:nvPr/>
          </p:nvSpPr>
          <p:spPr>
            <a:xfrm>
              <a:off x="7559857" y="4654886"/>
              <a:ext cx="914400" cy="9873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39A59810-D653-C7C7-8DBB-E8823F566F22}"/>
                </a:ext>
              </a:extLst>
            </p:cNvPr>
            <p:cNvSpPr/>
            <p:nvPr/>
          </p:nvSpPr>
          <p:spPr>
            <a:xfrm rot="10800000">
              <a:off x="7623061" y="4951152"/>
              <a:ext cx="486912" cy="213461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063A8CA0-4D12-BEB6-E779-341E506B96AB}"/>
                </a:ext>
              </a:extLst>
            </p:cNvPr>
            <p:cNvSpPr/>
            <p:nvPr/>
          </p:nvSpPr>
          <p:spPr>
            <a:xfrm>
              <a:off x="7918172" y="4741544"/>
              <a:ext cx="486912" cy="21346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DCA35072-E2BD-E228-32AE-757D5EDC21E9}"/>
                </a:ext>
              </a:extLst>
            </p:cNvPr>
            <p:cNvSpPr/>
            <p:nvPr/>
          </p:nvSpPr>
          <p:spPr>
            <a:xfrm rot="10800000">
              <a:off x="7623060" y="5346380"/>
              <a:ext cx="486912" cy="213461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B746387F-6B4E-8ABD-F17B-81EEA9E8B296}"/>
                </a:ext>
              </a:extLst>
            </p:cNvPr>
            <p:cNvSpPr/>
            <p:nvPr/>
          </p:nvSpPr>
          <p:spPr>
            <a:xfrm>
              <a:off x="7918171" y="5136772"/>
              <a:ext cx="486912" cy="21346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84CE93A-A65D-2A09-FE88-78D1577DF407}"/>
              </a:ext>
            </a:extLst>
          </p:cNvPr>
          <p:cNvCxnSpPr>
            <a:cxnSpLocks/>
          </p:cNvCxnSpPr>
          <p:nvPr/>
        </p:nvCxnSpPr>
        <p:spPr>
          <a:xfrm flipV="1">
            <a:off x="2404557" y="4037579"/>
            <a:ext cx="808042" cy="1905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843BD29-32AB-E347-516A-0BA402BEAE78}"/>
              </a:ext>
            </a:extLst>
          </p:cNvPr>
          <p:cNvCxnSpPr>
            <a:cxnSpLocks/>
          </p:cNvCxnSpPr>
          <p:nvPr/>
        </p:nvCxnSpPr>
        <p:spPr>
          <a:xfrm flipV="1">
            <a:off x="2388987" y="5390816"/>
            <a:ext cx="808042" cy="1905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be 45">
            <a:extLst>
              <a:ext uri="{FF2B5EF4-FFF2-40B4-BE49-F238E27FC236}">
                <a16:creationId xmlns:a16="http://schemas.microsoft.com/office/drawing/2014/main" id="{0EDAE977-05C0-57A7-D0DA-5800060ACA38}"/>
              </a:ext>
            </a:extLst>
          </p:cNvPr>
          <p:cNvSpPr/>
          <p:nvPr/>
        </p:nvSpPr>
        <p:spPr>
          <a:xfrm>
            <a:off x="1628413" y="3643916"/>
            <a:ext cx="758273" cy="902462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B550C36-3116-3DF8-B688-5837D3E7F726}"/>
              </a:ext>
            </a:extLst>
          </p:cNvPr>
          <p:cNvSpPr/>
          <p:nvPr/>
        </p:nvSpPr>
        <p:spPr>
          <a:xfrm>
            <a:off x="1186058" y="3467107"/>
            <a:ext cx="1642052" cy="2530914"/>
          </a:xfrm>
          <a:prstGeom prst="round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ube 49">
            <a:extLst>
              <a:ext uri="{FF2B5EF4-FFF2-40B4-BE49-F238E27FC236}">
                <a16:creationId xmlns:a16="http://schemas.microsoft.com/office/drawing/2014/main" id="{CE2A45DB-9478-7FDC-9B5B-431AF8D7D281}"/>
              </a:ext>
            </a:extLst>
          </p:cNvPr>
          <p:cNvSpPr/>
          <p:nvPr/>
        </p:nvSpPr>
        <p:spPr>
          <a:xfrm>
            <a:off x="1646284" y="4939585"/>
            <a:ext cx="758273" cy="902462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28EEA4-76F8-379D-6C8C-8823B6E645D6}"/>
              </a:ext>
            </a:extLst>
          </p:cNvPr>
          <p:cNvSpPr txBox="1"/>
          <p:nvPr/>
        </p:nvSpPr>
        <p:spPr>
          <a:xfrm>
            <a:off x="1065660" y="2770205"/>
            <a:ext cx="18795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Downstream Systems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172.16.1.x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(DHCP / Static)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DEB499-B97D-8A1F-D8E5-1A1D66892A17}"/>
              </a:ext>
            </a:extLst>
          </p:cNvPr>
          <p:cNvSpPr txBox="1"/>
          <p:nvPr/>
        </p:nvSpPr>
        <p:spPr>
          <a:xfrm>
            <a:off x="2835951" y="2980214"/>
            <a:ext cx="13857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Layer 2/3 Switch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(172.16.1.x)</a:t>
            </a:r>
          </a:p>
        </p:txBody>
      </p:sp>
    </p:spTree>
    <p:extLst>
      <p:ext uri="{BB962C8B-B14F-4D97-AF65-F5344CB8AC3E}">
        <p14:creationId xmlns:p14="http://schemas.microsoft.com/office/powerpoint/2010/main" val="338494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8D2E-EA61-C001-9904-D88D02CF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Indirect connection to the Internet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90F5D-972E-8508-EB55-DE1A25310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this example, the Internet Gateway isn’t directly connected to the </a:t>
            </a:r>
            <a:r>
              <a:rPr lang="en-US" sz="2000" dirty="0" err="1"/>
              <a:t>OPNSense</a:t>
            </a:r>
            <a:r>
              <a:rPr lang="en-US" sz="2000" dirty="0"/>
              <a:t> device.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 other words, there is another router further upstream.)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0D29DC6-6E61-6471-F8AB-D94BB90CCC90}"/>
              </a:ext>
            </a:extLst>
          </p:cNvPr>
          <p:cNvSpPr/>
          <p:nvPr/>
        </p:nvSpPr>
        <p:spPr>
          <a:xfrm>
            <a:off x="4079895" y="3972264"/>
            <a:ext cx="2236879" cy="1405277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1E427D2-B756-A28D-3760-A0B410346442}"/>
              </a:ext>
            </a:extLst>
          </p:cNvPr>
          <p:cNvSpPr txBox="1"/>
          <p:nvPr/>
        </p:nvSpPr>
        <p:spPr>
          <a:xfrm>
            <a:off x="4252086" y="3535465"/>
            <a:ext cx="189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OPNSense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Device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423284B-81F0-EC15-FDF7-348CF383ECFA}"/>
              </a:ext>
            </a:extLst>
          </p:cNvPr>
          <p:cNvSpPr/>
          <p:nvPr/>
        </p:nvSpPr>
        <p:spPr>
          <a:xfrm>
            <a:off x="5618047" y="4380988"/>
            <a:ext cx="1239954" cy="58782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WAN</a:t>
            </a:r>
          </a:p>
          <a:p>
            <a:pPr algn="ctr"/>
            <a:r>
              <a:rPr lang="en-US" sz="1200" dirty="0"/>
              <a:t>192.168.2.2 (Static IP)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DA8BF19-280E-E5A1-7ABE-6B437CF3070E}"/>
              </a:ext>
            </a:extLst>
          </p:cNvPr>
          <p:cNvSpPr/>
          <p:nvPr/>
        </p:nvSpPr>
        <p:spPr>
          <a:xfrm>
            <a:off x="3594980" y="4380988"/>
            <a:ext cx="1239954" cy="58782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LAN</a:t>
            </a:r>
          </a:p>
          <a:p>
            <a:pPr algn="ctr"/>
            <a:r>
              <a:rPr lang="en-US" sz="1200" dirty="0"/>
              <a:t>172.16.1.1 (Static IP)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2C9A712-79AE-B61B-94BC-1F405A0DCF47}"/>
              </a:ext>
            </a:extLst>
          </p:cNvPr>
          <p:cNvCxnSpPr>
            <a:cxnSpLocks/>
          </p:cNvCxnSpPr>
          <p:nvPr/>
        </p:nvCxnSpPr>
        <p:spPr>
          <a:xfrm>
            <a:off x="3058349" y="4669578"/>
            <a:ext cx="546836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4E154B7-7CC5-B327-47D3-B7F34BD86016}"/>
              </a:ext>
            </a:extLst>
          </p:cNvPr>
          <p:cNvSpPr/>
          <p:nvPr/>
        </p:nvSpPr>
        <p:spPr>
          <a:xfrm>
            <a:off x="2462832" y="3476399"/>
            <a:ext cx="586325" cy="23863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E240879-FC69-7553-D037-41D1D0FE2E3B}"/>
              </a:ext>
            </a:extLst>
          </p:cNvPr>
          <p:cNvGrpSpPr/>
          <p:nvPr/>
        </p:nvGrpSpPr>
        <p:grpSpPr>
          <a:xfrm>
            <a:off x="2532065" y="4435881"/>
            <a:ext cx="447857" cy="467394"/>
            <a:chOff x="7559857" y="4654886"/>
            <a:chExt cx="914400" cy="987399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6846A33-A6FC-2761-E0AE-29B8AD61AB04}"/>
                </a:ext>
              </a:extLst>
            </p:cNvPr>
            <p:cNvSpPr/>
            <p:nvPr/>
          </p:nvSpPr>
          <p:spPr>
            <a:xfrm>
              <a:off x="7559857" y="4654886"/>
              <a:ext cx="914400" cy="9873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Arrow: Right 126">
              <a:extLst>
                <a:ext uri="{FF2B5EF4-FFF2-40B4-BE49-F238E27FC236}">
                  <a16:creationId xmlns:a16="http://schemas.microsoft.com/office/drawing/2014/main" id="{5BF75959-4C48-7782-12FA-9A8BD598FFFA}"/>
                </a:ext>
              </a:extLst>
            </p:cNvPr>
            <p:cNvSpPr/>
            <p:nvPr/>
          </p:nvSpPr>
          <p:spPr>
            <a:xfrm rot="10800000">
              <a:off x="7623061" y="4951152"/>
              <a:ext cx="486912" cy="213461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Arrow: Right 127">
              <a:extLst>
                <a:ext uri="{FF2B5EF4-FFF2-40B4-BE49-F238E27FC236}">
                  <a16:creationId xmlns:a16="http://schemas.microsoft.com/office/drawing/2014/main" id="{C71A9B8D-6DBA-A7D6-3BF5-6714D4348838}"/>
                </a:ext>
              </a:extLst>
            </p:cNvPr>
            <p:cNvSpPr/>
            <p:nvPr/>
          </p:nvSpPr>
          <p:spPr>
            <a:xfrm>
              <a:off x="7918172" y="4741544"/>
              <a:ext cx="486912" cy="21346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Arrow: Right 128">
              <a:extLst>
                <a:ext uri="{FF2B5EF4-FFF2-40B4-BE49-F238E27FC236}">
                  <a16:creationId xmlns:a16="http://schemas.microsoft.com/office/drawing/2014/main" id="{170B6FDB-B9AC-2358-4E97-FC86EF44D533}"/>
                </a:ext>
              </a:extLst>
            </p:cNvPr>
            <p:cNvSpPr/>
            <p:nvPr/>
          </p:nvSpPr>
          <p:spPr>
            <a:xfrm rot="10800000">
              <a:off x="7623060" y="5346380"/>
              <a:ext cx="486912" cy="213461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Arrow: Right 129">
              <a:extLst>
                <a:ext uri="{FF2B5EF4-FFF2-40B4-BE49-F238E27FC236}">
                  <a16:creationId xmlns:a16="http://schemas.microsoft.com/office/drawing/2014/main" id="{76611993-5FD9-FC68-FBA7-3DBB44C3A92E}"/>
                </a:ext>
              </a:extLst>
            </p:cNvPr>
            <p:cNvSpPr/>
            <p:nvPr/>
          </p:nvSpPr>
          <p:spPr>
            <a:xfrm>
              <a:off x="7918171" y="5136772"/>
              <a:ext cx="486912" cy="21346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F53409-4CA4-1D9E-FBB7-08480C005D97}"/>
              </a:ext>
            </a:extLst>
          </p:cNvPr>
          <p:cNvCxnSpPr>
            <a:cxnSpLocks/>
          </p:cNvCxnSpPr>
          <p:nvPr/>
        </p:nvCxnSpPr>
        <p:spPr>
          <a:xfrm flipV="1">
            <a:off x="1649814" y="4008550"/>
            <a:ext cx="808042" cy="1905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222BDFB-16A2-08AC-1EED-AEC96CA3103B}"/>
              </a:ext>
            </a:extLst>
          </p:cNvPr>
          <p:cNvCxnSpPr>
            <a:cxnSpLocks/>
          </p:cNvCxnSpPr>
          <p:nvPr/>
        </p:nvCxnSpPr>
        <p:spPr>
          <a:xfrm flipV="1">
            <a:off x="1634244" y="5361787"/>
            <a:ext cx="808042" cy="1905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ube 132">
            <a:extLst>
              <a:ext uri="{FF2B5EF4-FFF2-40B4-BE49-F238E27FC236}">
                <a16:creationId xmlns:a16="http://schemas.microsoft.com/office/drawing/2014/main" id="{A6D2AF00-46C4-759F-4FDC-9AE6FB7C30B7}"/>
              </a:ext>
            </a:extLst>
          </p:cNvPr>
          <p:cNvSpPr/>
          <p:nvPr/>
        </p:nvSpPr>
        <p:spPr>
          <a:xfrm>
            <a:off x="873670" y="3614887"/>
            <a:ext cx="758273" cy="902462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8EE671E-54A7-4605-CB1F-4EC6DDE40082}"/>
              </a:ext>
            </a:extLst>
          </p:cNvPr>
          <p:cNvSpPr/>
          <p:nvPr/>
        </p:nvSpPr>
        <p:spPr>
          <a:xfrm>
            <a:off x="431315" y="3438078"/>
            <a:ext cx="1642052" cy="2530914"/>
          </a:xfrm>
          <a:prstGeom prst="round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915B7915-30AB-89A9-79C4-1F92608F53AA}"/>
              </a:ext>
            </a:extLst>
          </p:cNvPr>
          <p:cNvSpPr/>
          <p:nvPr/>
        </p:nvSpPr>
        <p:spPr>
          <a:xfrm>
            <a:off x="891541" y="4910556"/>
            <a:ext cx="758273" cy="902462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FF4D569-791C-D02C-07A2-FF8F5DB290B3}"/>
              </a:ext>
            </a:extLst>
          </p:cNvPr>
          <p:cNvSpPr txBox="1"/>
          <p:nvPr/>
        </p:nvSpPr>
        <p:spPr>
          <a:xfrm>
            <a:off x="310917" y="2741176"/>
            <a:ext cx="18795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Downstream Systems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172.16.1.x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(DHCP / Static)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4F75404-CB78-39E6-B40D-F0B85A15A17F}"/>
              </a:ext>
            </a:extLst>
          </p:cNvPr>
          <p:cNvSpPr txBox="1"/>
          <p:nvPr/>
        </p:nvSpPr>
        <p:spPr>
          <a:xfrm>
            <a:off x="2081208" y="2951185"/>
            <a:ext cx="13857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Layer 2/3 Switch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(172.16.1.x)</a:t>
            </a:r>
          </a:p>
        </p:txBody>
      </p:sp>
      <p:sp>
        <p:nvSpPr>
          <p:cNvPr id="159" name="Cloud 158">
            <a:extLst>
              <a:ext uri="{FF2B5EF4-FFF2-40B4-BE49-F238E27FC236}">
                <a16:creationId xmlns:a16="http://schemas.microsoft.com/office/drawing/2014/main" id="{D90B1930-5BD6-E8BB-8145-AD6ED47EA0E5}"/>
              </a:ext>
            </a:extLst>
          </p:cNvPr>
          <p:cNvSpPr/>
          <p:nvPr/>
        </p:nvSpPr>
        <p:spPr>
          <a:xfrm>
            <a:off x="10157666" y="2897462"/>
            <a:ext cx="1892496" cy="914400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Public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Internet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8976979-171A-1A58-D488-1A3219B20445}"/>
              </a:ext>
            </a:extLst>
          </p:cNvPr>
          <p:cNvGrpSpPr/>
          <p:nvPr/>
        </p:nvGrpSpPr>
        <p:grpSpPr>
          <a:xfrm>
            <a:off x="8914306" y="3438078"/>
            <a:ext cx="721763" cy="665370"/>
            <a:chOff x="6395215" y="4507265"/>
            <a:chExt cx="1086239" cy="1010308"/>
          </a:xfrm>
        </p:grpSpPr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869AD57A-82E5-C0BE-CE4D-C11B6BE94B49}"/>
                </a:ext>
              </a:extLst>
            </p:cNvPr>
            <p:cNvSpPr/>
            <p:nvPr/>
          </p:nvSpPr>
          <p:spPr>
            <a:xfrm>
              <a:off x="6395215" y="4507265"/>
              <a:ext cx="1086239" cy="1010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Arrow: Right 161">
              <a:extLst>
                <a:ext uri="{FF2B5EF4-FFF2-40B4-BE49-F238E27FC236}">
                  <a16:creationId xmlns:a16="http://schemas.microsoft.com/office/drawing/2014/main" id="{E683B8AA-1336-8D71-4305-C5E8EDF67B25}"/>
                </a:ext>
              </a:extLst>
            </p:cNvPr>
            <p:cNvSpPr/>
            <p:nvPr/>
          </p:nvSpPr>
          <p:spPr>
            <a:xfrm>
              <a:off x="6474307" y="4866795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Arrow: Right 162">
              <a:extLst>
                <a:ext uri="{FF2B5EF4-FFF2-40B4-BE49-F238E27FC236}">
                  <a16:creationId xmlns:a16="http://schemas.microsoft.com/office/drawing/2014/main" id="{434F236B-329A-B7C6-5F5D-BD70255518EA}"/>
                </a:ext>
              </a:extLst>
            </p:cNvPr>
            <p:cNvSpPr/>
            <p:nvPr/>
          </p:nvSpPr>
          <p:spPr>
            <a:xfrm rot="10800000">
              <a:off x="6983632" y="4870946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Arrow: Right 163">
              <a:extLst>
                <a:ext uri="{FF2B5EF4-FFF2-40B4-BE49-F238E27FC236}">
                  <a16:creationId xmlns:a16="http://schemas.microsoft.com/office/drawing/2014/main" id="{4373FA87-3822-8112-809C-0289359ADA20}"/>
                </a:ext>
              </a:extLst>
            </p:cNvPr>
            <p:cNvSpPr/>
            <p:nvPr/>
          </p:nvSpPr>
          <p:spPr>
            <a:xfrm rot="16200000">
              <a:off x="6735905" y="461311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Arrow: Right 164">
              <a:extLst>
                <a:ext uri="{FF2B5EF4-FFF2-40B4-BE49-F238E27FC236}">
                  <a16:creationId xmlns:a16="http://schemas.microsoft.com/office/drawing/2014/main" id="{CFC299EF-8B5E-83A8-4130-FAA954FA3FD4}"/>
                </a:ext>
              </a:extLst>
            </p:cNvPr>
            <p:cNvSpPr/>
            <p:nvPr/>
          </p:nvSpPr>
          <p:spPr>
            <a:xfrm rot="5400000">
              <a:off x="6734164" y="513487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7DFB87B-F1CB-609D-D70B-BE1D4A388454}"/>
              </a:ext>
            </a:extLst>
          </p:cNvPr>
          <p:cNvCxnSpPr>
            <a:cxnSpLocks/>
            <a:endCxn id="161" idx="2"/>
          </p:cNvCxnSpPr>
          <p:nvPr/>
        </p:nvCxnSpPr>
        <p:spPr>
          <a:xfrm flipV="1">
            <a:off x="8175579" y="3770763"/>
            <a:ext cx="738727" cy="416860"/>
          </a:xfrm>
          <a:prstGeom prst="line">
            <a:avLst/>
          </a:prstGeom>
          <a:ln w="254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6DBF8FC-F974-C9D2-2FA6-CE8417E9ED91}"/>
              </a:ext>
            </a:extLst>
          </p:cNvPr>
          <p:cNvCxnSpPr>
            <a:cxnSpLocks/>
            <a:stCxn id="161" idx="6"/>
          </p:cNvCxnSpPr>
          <p:nvPr/>
        </p:nvCxnSpPr>
        <p:spPr>
          <a:xfrm flipV="1">
            <a:off x="9636069" y="3603691"/>
            <a:ext cx="569809" cy="167072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48F82EF2-69D4-B3CA-EBD9-4FED8E2D26B9}"/>
              </a:ext>
            </a:extLst>
          </p:cNvPr>
          <p:cNvSpPr txBox="1"/>
          <p:nvPr/>
        </p:nvSpPr>
        <p:spPr>
          <a:xfrm>
            <a:off x="8199841" y="4664408"/>
            <a:ext cx="1442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(NOTE: This line could be WIFI of wired. The IP address is sent by the Internet GW via DHCP)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97CE3EE-52EB-0A56-A88B-BB32E870BE8F}"/>
              </a:ext>
            </a:extLst>
          </p:cNvPr>
          <p:cNvSpPr txBox="1"/>
          <p:nvPr/>
        </p:nvSpPr>
        <p:spPr>
          <a:xfrm>
            <a:off x="8490255" y="2873759"/>
            <a:ext cx="145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Internet Gateway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(Router to ISP)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EEAE576-0465-3CD8-413F-A37290E98D58}"/>
              </a:ext>
            </a:extLst>
          </p:cNvPr>
          <p:cNvGrpSpPr/>
          <p:nvPr/>
        </p:nvGrpSpPr>
        <p:grpSpPr>
          <a:xfrm>
            <a:off x="7472635" y="3902611"/>
            <a:ext cx="721763" cy="665370"/>
            <a:chOff x="6395215" y="4507265"/>
            <a:chExt cx="1086239" cy="1010308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ECB41268-A438-7175-AB07-B251E2A90A8B}"/>
                </a:ext>
              </a:extLst>
            </p:cNvPr>
            <p:cNvSpPr/>
            <p:nvPr/>
          </p:nvSpPr>
          <p:spPr>
            <a:xfrm>
              <a:off x="6395215" y="4507265"/>
              <a:ext cx="1086239" cy="1010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Arrow: Right 171">
              <a:extLst>
                <a:ext uri="{FF2B5EF4-FFF2-40B4-BE49-F238E27FC236}">
                  <a16:creationId xmlns:a16="http://schemas.microsoft.com/office/drawing/2014/main" id="{34F8EB3D-A575-96AF-B7FA-EEDD0CE4D980}"/>
                </a:ext>
              </a:extLst>
            </p:cNvPr>
            <p:cNvSpPr/>
            <p:nvPr/>
          </p:nvSpPr>
          <p:spPr>
            <a:xfrm>
              <a:off x="6474307" y="4866795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Arrow: Right 172">
              <a:extLst>
                <a:ext uri="{FF2B5EF4-FFF2-40B4-BE49-F238E27FC236}">
                  <a16:creationId xmlns:a16="http://schemas.microsoft.com/office/drawing/2014/main" id="{C5CA28A2-16B1-7CEF-48CC-54E0B11DD458}"/>
                </a:ext>
              </a:extLst>
            </p:cNvPr>
            <p:cNvSpPr/>
            <p:nvPr/>
          </p:nvSpPr>
          <p:spPr>
            <a:xfrm rot="10800000">
              <a:off x="6983632" y="4870946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Arrow: Right 173">
              <a:extLst>
                <a:ext uri="{FF2B5EF4-FFF2-40B4-BE49-F238E27FC236}">
                  <a16:creationId xmlns:a16="http://schemas.microsoft.com/office/drawing/2014/main" id="{AAA72455-40A1-A819-B51A-37FE67FED533}"/>
                </a:ext>
              </a:extLst>
            </p:cNvPr>
            <p:cNvSpPr/>
            <p:nvPr/>
          </p:nvSpPr>
          <p:spPr>
            <a:xfrm rot="16200000">
              <a:off x="6735905" y="461311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Arrow: Right 174">
              <a:extLst>
                <a:ext uri="{FF2B5EF4-FFF2-40B4-BE49-F238E27FC236}">
                  <a16:creationId xmlns:a16="http://schemas.microsoft.com/office/drawing/2014/main" id="{4DC51510-DF0E-C673-F269-EF5E70C4FE97}"/>
                </a:ext>
              </a:extLst>
            </p:cNvPr>
            <p:cNvSpPr/>
            <p:nvPr/>
          </p:nvSpPr>
          <p:spPr>
            <a:xfrm rot="5400000">
              <a:off x="6734164" y="513487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5870AAC-03F2-EEFF-E342-3D2DC7A65B6F}"/>
              </a:ext>
            </a:extLst>
          </p:cNvPr>
          <p:cNvCxnSpPr>
            <a:cxnSpLocks/>
            <a:endCxn id="171" idx="3"/>
          </p:cNvCxnSpPr>
          <p:nvPr/>
        </p:nvCxnSpPr>
        <p:spPr>
          <a:xfrm flipV="1">
            <a:off x="6858001" y="4470540"/>
            <a:ext cx="720334" cy="1857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E19A430B-6859-AC88-0FE3-A247AF5526E8}"/>
              </a:ext>
            </a:extLst>
          </p:cNvPr>
          <p:cNvSpPr txBox="1"/>
          <p:nvPr/>
        </p:nvSpPr>
        <p:spPr>
          <a:xfrm>
            <a:off x="7186736" y="4583763"/>
            <a:ext cx="1233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192.168.2.1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BE9B2E3-3991-CA93-9C9D-255CF208CF59}"/>
              </a:ext>
            </a:extLst>
          </p:cNvPr>
          <p:cNvSpPr txBox="1"/>
          <p:nvPr/>
        </p:nvSpPr>
        <p:spPr>
          <a:xfrm>
            <a:off x="7045786" y="3560703"/>
            <a:ext cx="1436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Upstream Router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4867229-3354-96E0-D95B-D92B6BE5CA2F}"/>
              </a:ext>
            </a:extLst>
          </p:cNvPr>
          <p:cNvSpPr txBox="1"/>
          <p:nvPr/>
        </p:nvSpPr>
        <p:spPr>
          <a:xfrm>
            <a:off x="8067355" y="4213634"/>
            <a:ext cx="101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192.168.1.x (DHCP)</a:t>
            </a:r>
          </a:p>
        </p:txBody>
      </p:sp>
    </p:spTree>
    <p:extLst>
      <p:ext uri="{BB962C8B-B14F-4D97-AF65-F5344CB8AC3E}">
        <p14:creationId xmlns:p14="http://schemas.microsoft.com/office/powerpoint/2010/main" val="195141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7BBA-1BB1-CC32-7C41-A42FCFAE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3C40-7B1F-597B-FEA5-E3D31069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Indirect connection to the Internet Gateway</a:t>
            </a:r>
            <a:br>
              <a:rPr lang="en-US" sz="2800" dirty="0"/>
            </a:br>
            <a:r>
              <a:rPr lang="en-US" sz="2800" dirty="0"/>
              <a:t>(NOTE: This is for using </a:t>
            </a:r>
            <a:r>
              <a:rPr lang="en-US" sz="2800" dirty="0" err="1"/>
              <a:t>OPNSense</a:t>
            </a:r>
            <a:r>
              <a:rPr lang="en-US" sz="2800" dirty="0"/>
              <a:t> purely for DHCP/DNS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CC2FA-FB2D-D03F-FFC5-3C556533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this example, the Internet Gateway isn’t directly connected to the </a:t>
            </a:r>
            <a:r>
              <a:rPr lang="en-US" sz="2000" dirty="0" err="1"/>
              <a:t>OPNSense</a:t>
            </a:r>
            <a:r>
              <a:rPr lang="en-US" sz="2000" dirty="0"/>
              <a:t> device.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 other words, there is another router further upstream.)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6AECF8-26C5-3971-D03E-D5068EB3EDC5}"/>
              </a:ext>
            </a:extLst>
          </p:cNvPr>
          <p:cNvSpPr/>
          <p:nvPr/>
        </p:nvSpPr>
        <p:spPr>
          <a:xfrm>
            <a:off x="4119159" y="3184841"/>
            <a:ext cx="2236879" cy="849491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8D5D68-3CDF-C006-08F8-161B46B6221F}"/>
              </a:ext>
            </a:extLst>
          </p:cNvPr>
          <p:cNvSpPr txBox="1"/>
          <p:nvPr/>
        </p:nvSpPr>
        <p:spPr>
          <a:xfrm>
            <a:off x="4391309" y="2748042"/>
            <a:ext cx="189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OPNSense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Device</a:t>
            </a:r>
          </a:p>
        </p:txBody>
      </p:sp>
      <p:sp>
        <p:nvSpPr>
          <p:cNvPr id="24" name="Cloud 23">
            <a:extLst>
              <a:ext uri="{FF2B5EF4-FFF2-40B4-BE49-F238E27FC236}">
                <a16:creationId xmlns:a16="http://schemas.microsoft.com/office/drawing/2014/main" id="{486AE875-86E9-E18E-6405-7FCF71D43930}"/>
              </a:ext>
            </a:extLst>
          </p:cNvPr>
          <p:cNvSpPr/>
          <p:nvPr/>
        </p:nvSpPr>
        <p:spPr>
          <a:xfrm>
            <a:off x="9734255" y="3208544"/>
            <a:ext cx="1892496" cy="914400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Public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Internet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E66128-7368-6CE6-4945-ED278E05863B}"/>
              </a:ext>
            </a:extLst>
          </p:cNvPr>
          <p:cNvGrpSpPr/>
          <p:nvPr/>
        </p:nvGrpSpPr>
        <p:grpSpPr>
          <a:xfrm>
            <a:off x="8490895" y="3749160"/>
            <a:ext cx="721763" cy="665370"/>
            <a:chOff x="6395215" y="4507265"/>
            <a:chExt cx="1086239" cy="101030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2EBC9C4-EC63-9120-1420-80F64ED104C8}"/>
                </a:ext>
              </a:extLst>
            </p:cNvPr>
            <p:cNvSpPr/>
            <p:nvPr/>
          </p:nvSpPr>
          <p:spPr>
            <a:xfrm>
              <a:off x="6395215" y="4507265"/>
              <a:ext cx="1086239" cy="1010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7539FF83-D9D0-359E-425A-5E72FB674CD4}"/>
                </a:ext>
              </a:extLst>
            </p:cNvPr>
            <p:cNvSpPr/>
            <p:nvPr/>
          </p:nvSpPr>
          <p:spPr>
            <a:xfrm>
              <a:off x="6474307" y="4866795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8FB877F6-9BC6-AB46-DC21-30F53F6D34BE}"/>
                </a:ext>
              </a:extLst>
            </p:cNvPr>
            <p:cNvSpPr/>
            <p:nvPr/>
          </p:nvSpPr>
          <p:spPr>
            <a:xfrm rot="10800000">
              <a:off x="6983632" y="4870946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3AF06385-2B64-DD9A-88F3-FF4F9C2D3750}"/>
                </a:ext>
              </a:extLst>
            </p:cNvPr>
            <p:cNvSpPr/>
            <p:nvPr/>
          </p:nvSpPr>
          <p:spPr>
            <a:xfrm rot="16200000">
              <a:off x="6735905" y="461311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D62D2436-4DA9-6FA3-FB22-B60856CDC74F}"/>
                </a:ext>
              </a:extLst>
            </p:cNvPr>
            <p:cNvSpPr/>
            <p:nvPr/>
          </p:nvSpPr>
          <p:spPr>
            <a:xfrm rot="5400000">
              <a:off x="6734164" y="513487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8C2C4B-9BA5-94FA-D094-FDCAD747DB52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752168" y="4081845"/>
            <a:ext cx="738727" cy="416860"/>
          </a:xfrm>
          <a:prstGeom prst="line">
            <a:avLst/>
          </a:prstGeom>
          <a:ln w="254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EA93708-E318-C9C4-B7EE-F96BBCDEBBDE}"/>
              </a:ext>
            </a:extLst>
          </p:cNvPr>
          <p:cNvCxnSpPr>
            <a:cxnSpLocks/>
            <a:stCxn id="27" idx="6"/>
          </p:cNvCxnSpPr>
          <p:nvPr/>
        </p:nvCxnSpPr>
        <p:spPr>
          <a:xfrm flipV="1">
            <a:off x="9212658" y="3914773"/>
            <a:ext cx="569809" cy="167072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35B4FCE-7788-ADB1-9CC5-E81504DE248D}"/>
              </a:ext>
            </a:extLst>
          </p:cNvPr>
          <p:cNvSpPr txBox="1"/>
          <p:nvPr/>
        </p:nvSpPr>
        <p:spPr>
          <a:xfrm>
            <a:off x="7776430" y="4975490"/>
            <a:ext cx="1442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(NOTE: This line could be WIFI of wired. The IP address is sent by the Internet GW via DHCP)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10D847-D331-3D0E-476A-E35BFDF6B3C3}"/>
              </a:ext>
            </a:extLst>
          </p:cNvPr>
          <p:cNvSpPr txBox="1"/>
          <p:nvPr/>
        </p:nvSpPr>
        <p:spPr>
          <a:xfrm>
            <a:off x="8066844" y="3184841"/>
            <a:ext cx="145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Internet Gateway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(Router to ISP)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BCD24B-BF6E-32B9-3935-87FC8602A3CD}"/>
              </a:ext>
            </a:extLst>
          </p:cNvPr>
          <p:cNvSpPr/>
          <p:nvPr/>
        </p:nvSpPr>
        <p:spPr>
          <a:xfrm>
            <a:off x="4599916" y="3712629"/>
            <a:ext cx="1239954" cy="58782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LAN</a:t>
            </a:r>
          </a:p>
          <a:p>
            <a:pPr algn="ctr"/>
            <a:r>
              <a:rPr lang="en-US" sz="1200" dirty="0"/>
              <a:t>172.16.1.2 (Static IP)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47C0BBE-9E58-437E-CC8D-30DF566A0C2F}"/>
              </a:ext>
            </a:extLst>
          </p:cNvPr>
          <p:cNvCxnSpPr>
            <a:cxnSpLocks/>
            <a:endCxn id="38" idx="3"/>
          </p:cNvCxnSpPr>
          <p:nvPr/>
        </p:nvCxnSpPr>
        <p:spPr>
          <a:xfrm>
            <a:off x="5241411" y="4284856"/>
            <a:ext cx="0" cy="389349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419C130-5343-1A5F-A904-A51B4E18607C}"/>
              </a:ext>
            </a:extLst>
          </p:cNvPr>
          <p:cNvGrpSpPr/>
          <p:nvPr/>
        </p:nvGrpSpPr>
        <p:grpSpPr>
          <a:xfrm rot="16200000">
            <a:off x="4948248" y="3774188"/>
            <a:ext cx="586325" cy="2386358"/>
            <a:chOff x="3217575" y="3505428"/>
            <a:chExt cx="586325" cy="238635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1057E83-CD3F-8501-A6DC-18AE621CD4C9}"/>
                </a:ext>
              </a:extLst>
            </p:cNvPr>
            <p:cNvSpPr/>
            <p:nvPr/>
          </p:nvSpPr>
          <p:spPr>
            <a:xfrm>
              <a:off x="3217575" y="3505428"/>
              <a:ext cx="586325" cy="238635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A362F3E-2FF0-52B1-656E-7FFE72E1156C}"/>
                </a:ext>
              </a:extLst>
            </p:cNvPr>
            <p:cNvGrpSpPr/>
            <p:nvPr/>
          </p:nvGrpSpPr>
          <p:grpSpPr>
            <a:xfrm>
              <a:off x="3286808" y="4464910"/>
              <a:ext cx="447857" cy="467394"/>
              <a:chOff x="7559857" y="4654886"/>
              <a:chExt cx="914400" cy="987399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9A90CFE-7762-5FBA-035E-07B8B510131D}"/>
                  </a:ext>
                </a:extLst>
              </p:cNvPr>
              <p:cNvSpPr/>
              <p:nvPr/>
            </p:nvSpPr>
            <p:spPr>
              <a:xfrm>
                <a:off x="7559857" y="4654886"/>
                <a:ext cx="914400" cy="98739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Arrow: Right 40">
                <a:extLst>
                  <a:ext uri="{FF2B5EF4-FFF2-40B4-BE49-F238E27FC236}">
                    <a16:creationId xmlns:a16="http://schemas.microsoft.com/office/drawing/2014/main" id="{68F6C357-AA97-4AA9-1A31-F9C247EC5C17}"/>
                  </a:ext>
                </a:extLst>
              </p:cNvPr>
              <p:cNvSpPr/>
              <p:nvPr/>
            </p:nvSpPr>
            <p:spPr>
              <a:xfrm rot="10800000">
                <a:off x="7623061" y="4951152"/>
                <a:ext cx="486912" cy="213461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Arrow: Right 41">
                <a:extLst>
                  <a:ext uri="{FF2B5EF4-FFF2-40B4-BE49-F238E27FC236}">
                    <a16:creationId xmlns:a16="http://schemas.microsoft.com/office/drawing/2014/main" id="{884F906F-B2C8-85D7-32CC-523CF3EABF53}"/>
                  </a:ext>
                </a:extLst>
              </p:cNvPr>
              <p:cNvSpPr/>
              <p:nvPr/>
            </p:nvSpPr>
            <p:spPr>
              <a:xfrm>
                <a:off x="7918172" y="4741544"/>
                <a:ext cx="486912" cy="213462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Arrow: Right 42">
                <a:extLst>
                  <a:ext uri="{FF2B5EF4-FFF2-40B4-BE49-F238E27FC236}">
                    <a16:creationId xmlns:a16="http://schemas.microsoft.com/office/drawing/2014/main" id="{5218196C-E692-6008-E4AE-182D0DC74875}"/>
                  </a:ext>
                </a:extLst>
              </p:cNvPr>
              <p:cNvSpPr/>
              <p:nvPr/>
            </p:nvSpPr>
            <p:spPr>
              <a:xfrm rot="10800000">
                <a:off x="7623060" y="5346380"/>
                <a:ext cx="486912" cy="213461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Arrow: Right 43">
                <a:extLst>
                  <a:ext uri="{FF2B5EF4-FFF2-40B4-BE49-F238E27FC236}">
                    <a16:creationId xmlns:a16="http://schemas.microsoft.com/office/drawing/2014/main" id="{87AAC52D-E952-A14A-3C87-6E33CD572E02}"/>
                  </a:ext>
                </a:extLst>
              </p:cNvPr>
              <p:cNvSpPr/>
              <p:nvPr/>
            </p:nvSpPr>
            <p:spPr>
              <a:xfrm>
                <a:off x="7918171" y="5136772"/>
                <a:ext cx="486912" cy="213462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57B5AB0-2FA1-35C7-0FC2-B68F65F38C61}"/>
              </a:ext>
            </a:extLst>
          </p:cNvPr>
          <p:cNvSpPr txBox="1"/>
          <p:nvPr/>
        </p:nvSpPr>
        <p:spPr>
          <a:xfrm>
            <a:off x="4593459" y="5382951"/>
            <a:ext cx="13857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Layer 2/3 Switch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(172.16.1.x)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55A781-05B4-1AE7-87EE-FD79DBD2D9CF}"/>
              </a:ext>
            </a:extLst>
          </p:cNvPr>
          <p:cNvCxnSpPr>
            <a:cxnSpLocks/>
          </p:cNvCxnSpPr>
          <p:nvPr/>
        </p:nvCxnSpPr>
        <p:spPr>
          <a:xfrm>
            <a:off x="2404557" y="4056632"/>
            <a:ext cx="1663694" cy="745979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2BDAE7D-503B-7642-B442-23319915CCD1}"/>
              </a:ext>
            </a:extLst>
          </p:cNvPr>
          <p:cNvCxnSpPr>
            <a:cxnSpLocks/>
          </p:cNvCxnSpPr>
          <p:nvPr/>
        </p:nvCxnSpPr>
        <p:spPr>
          <a:xfrm flipV="1">
            <a:off x="2388987" y="5134556"/>
            <a:ext cx="1659244" cy="27531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be 47">
            <a:extLst>
              <a:ext uri="{FF2B5EF4-FFF2-40B4-BE49-F238E27FC236}">
                <a16:creationId xmlns:a16="http://schemas.microsoft.com/office/drawing/2014/main" id="{8C4AB325-EF24-BA8A-AEBE-59B997A6C44D}"/>
              </a:ext>
            </a:extLst>
          </p:cNvPr>
          <p:cNvSpPr/>
          <p:nvPr/>
        </p:nvSpPr>
        <p:spPr>
          <a:xfrm>
            <a:off x="1628413" y="3643916"/>
            <a:ext cx="758273" cy="902462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0511142-CF28-3EC5-098B-62758E4CECF1}"/>
              </a:ext>
            </a:extLst>
          </p:cNvPr>
          <p:cNvSpPr/>
          <p:nvPr/>
        </p:nvSpPr>
        <p:spPr>
          <a:xfrm>
            <a:off x="1186058" y="3467107"/>
            <a:ext cx="1642052" cy="2530914"/>
          </a:xfrm>
          <a:prstGeom prst="round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ube 49">
            <a:extLst>
              <a:ext uri="{FF2B5EF4-FFF2-40B4-BE49-F238E27FC236}">
                <a16:creationId xmlns:a16="http://schemas.microsoft.com/office/drawing/2014/main" id="{FCB9D18C-137D-281D-C09F-5291D63FDF1E}"/>
              </a:ext>
            </a:extLst>
          </p:cNvPr>
          <p:cNvSpPr/>
          <p:nvPr/>
        </p:nvSpPr>
        <p:spPr>
          <a:xfrm>
            <a:off x="1646284" y="4939585"/>
            <a:ext cx="758273" cy="902462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8034FC-7440-B4A8-7101-630E86A989E2}"/>
              </a:ext>
            </a:extLst>
          </p:cNvPr>
          <p:cNvSpPr txBox="1"/>
          <p:nvPr/>
        </p:nvSpPr>
        <p:spPr>
          <a:xfrm>
            <a:off x="1065660" y="2770205"/>
            <a:ext cx="18795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Downstream Systems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172.16.1.x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(DHCP / Static)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98DD28E-4EF8-59B2-81B8-28AA8DB0F1AF}"/>
              </a:ext>
            </a:extLst>
          </p:cNvPr>
          <p:cNvGrpSpPr/>
          <p:nvPr/>
        </p:nvGrpSpPr>
        <p:grpSpPr>
          <a:xfrm>
            <a:off x="7049224" y="4213693"/>
            <a:ext cx="721763" cy="665370"/>
            <a:chOff x="6395215" y="4507265"/>
            <a:chExt cx="1086239" cy="1010308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3501427-AD9C-C147-C9E4-20DDBE9E17ED}"/>
                </a:ext>
              </a:extLst>
            </p:cNvPr>
            <p:cNvSpPr/>
            <p:nvPr/>
          </p:nvSpPr>
          <p:spPr>
            <a:xfrm>
              <a:off x="6395215" y="4507265"/>
              <a:ext cx="1086239" cy="1010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Arrow: Right 57">
              <a:extLst>
                <a:ext uri="{FF2B5EF4-FFF2-40B4-BE49-F238E27FC236}">
                  <a16:creationId xmlns:a16="http://schemas.microsoft.com/office/drawing/2014/main" id="{B1D0D80B-C585-8592-F2E5-F04D70BDCDC8}"/>
                </a:ext>
              </a:extLst>
            </p:cNvPr>
            <p:cNvSpPr/>
            <p:nvPr/>
          </p:nvSpPr>
          <p:spPr>
            <a:xfrm>
              <a:off x="6474307" y="4866795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F3C0E5DC-2A0C-7E14-BCD7-C94D031949E0}"/>
                </a:ext>
              </a:extLst>
            </p:cNvPr>
            <p:cNvSpPr/>
            <p:nvPr/>
          </p:nvSpPr>
          <p:spPr>
            <a:xfrm rot="10800000">
              <a:off x="6983632" y="4870946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Arrow: Right 59">
              <a:extLst>
                <a:ext uri="{FF2B5EF4-FFF2-40B4-BE49-F238E27FC236}">
                  <a16:creationId xmlns:a16="http://schemas.microsoft.com/office/drawing/2014/main" id="{5A982703-56EE-45A8-0BB4-E8BD8EE86F68}"/>
                </a:ext>
              </a:extLst>
            </p:cNvPr>
            <p:cNvSpPr/>
            <p:nvPr/>
          </p:nvSpPr>
          <p:spPr>
            <a:xfrm rot="16200000">
              <a:off x="6735905" y="461311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C31A4822-6CAC-3140-125B-AC9305F75BC8}"/>
                </a:ext>
              </a:extLst>
            </p:cNvPr>
            <p:cNvSpPr/>
            <p:nvPr/>
          </p:nvSpPr>
          <p:spPr>
            <a:xfrm rot="5400000">
              <a:off x="6734164" y="5134871"/>
              <a:ext cx="378278" cy="29124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A9AFE68-27DE-C6CE-6B3F-298225B2A153}"/>
              </a:ext>
            </a:extLst>
          </p:cNvPr>
          <p:cNvCxnSpPr>
            <a:cxnSpLocks/>
            <a:stCxn id="38" idx="2"/>
            <a:endCxn id="57" idx="3"/>
          </p:cNvCxnSpPr>
          <p:nvPr/>
        </p:nvCxnSpPr>
        <p:spPr>
          <a:xfrm flipV="1">
            <a:off x="6434590" y="4781622"/>
            <a:ext cx="720334" cy="18574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7DB7AE6E-2C16-2C2B-8E75-17E41B8149C7}"/>
              </a:ext>
            </a:extLst>
          </p:cNvPr>
          <p:cNvSpPr txBox="1"/>
          <p:nvPr/>
        </p:nvSpPr>
        <p:spPr>
          <a:xfrm>
            <a:off x="6669596" y="4849714"/>
            <a:ext cx="1233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172.16.1.1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6169E1-6CAA-0048-0C27-5268B5DFBFA9}"/>
              </a:ext>
            </a:extLst>
          </p:cNvPr>
          <p:cNvSpPr txBox="1"/>
          <p:nvPr/>
        </p:nvSpPr>
        <p:spPr>
          <a:xfrm>
            <a:off x="6622375" y="3871785"/>
            <a:ext cx="1436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Upstream Router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F1AA83-AB73-B578-1ADD-3D712EDCE3B6}"/>
              </a:ext>
            </a:extLst>
          </p:cNvPr>
          <p:cNvSpPr txBox="1"/>
          <p:nvPr/>
        </p:nvSpPr>
        <p:spPr>
          <a:xfrm>
            <a:off x="7643944" y="4524716"/>
            <a:ext cx="101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192.168.1.x (DHCP)</a:t>
            </a:r>
          </a:p>
        </p:txBody>
      </p:sp>
    </p:spTree>
    <p:extLst>
      <p:ext uri="{BB962C8B-B14F-4D97-AF65-F5344CB8AC3E}">
        <p14:creationId xmlns:p14="http://schemas.microsoft.com/office/powerpoint/2010/main" val="2707638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325</Words>
  <Application>Microsoft Office PowerPoint</Application>
  <PresentationFormat>Widescreen</PresentationFormat>
  <Paragraphs>57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OPNSense</vt:lpstr>
      <vt:lpstr>Direct connection to the Internet Gateway</vt:lpstr>
      <vt:lpstr>Indirect connection to the Internet Gateway</vt:lpstr>
      <vt:lpstr>Indirect connection to the Internet Gateway (NOTE: This is for using OPNSense purely for DHCP/DNS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Osentoski</dc:creator>
  <cp:lastModifiedBy>Matt Osentoski</cp:lastModifiedBy>
  <cp:revision>2</cp:revision>
  <dcterms:created xsi:type="dcterms:W3CDTF">2024-11-24T20:49:38Z</dcterms:created>
  <dcterms:modified xsi:type="dcterms:W3CDTF">2024-11-24T22:37:16Z</dcterms:modified>
</cp:coreProperties>
</file>